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928" y="868680"/>
            <a:ext cx="3291840" cy="172275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2928" y="2395728"/>
            <a:ext cx="1005840" cy="0"/>
          </a:xfrm>
          <a:prstGeom prst="line">
            <a:avLst/>
          </a:prstGeom>
          <a:noFill/>
          <a:ln w="15875">
            <a:solidFill>
              <a:srgbClr val="9C7C4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2651760"/>
            <a:ext cx="999713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 RESALE</a:t>
            </a:r>
            <a:endParaRPr lang="en-US" sz="44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25196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marketing analysis of The RealReal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66344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spc="13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CASE STUDY   •   MARKET STRATEGY  →  QUANTITATIVE ANALYSIS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ANALYSIS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&amp; MARKET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snapshot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 is not simply selling secondhand luxury. It operates a two-sided marketplace built around reducing friction and uncertainty for both buyers and consignors.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14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4600"/>
            <a:ext cx="32004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770632"/>
            <a:ext cx="2112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44M+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502152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IN THE MARKETPLACE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2514600"/>
            <a:ext cx="2514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2514600"/>
            <a:ext cx="32004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770632"/>
            <a:ext cx="2112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50M+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502152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SOLD / TRANSACTION HISTORY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9904" y="2514600"/>
            <a:ext cx="2514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2514600"/>
            <a:ext cx="32004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91072" y="2770632"/>
            <a:ext cx="2112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SIDES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3502152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+ CONSIGNORS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60536" y="2514600"/>
            <a:ext cx="2514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0536" y="2514600"/>
            <a:ext cx="32004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61704" y="2770632"/>
            <a:ext cx="2112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061704" y="3502152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MARKETPLACE CURRENCY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94415" cy="105156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636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A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PROPOSITION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910328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luxury + data-driven pricing + discovery + convenience + marketplace reach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RealReal 2026 Resale Report; 2025 Form 10-K; investor overview.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consignment model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81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1261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Consignor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item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31136" y="1691640"/>
            <a:ext cx="1481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40864" y="1691640"/>
            <a:ext cx="1261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TRR evaluates &amp;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 item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13632" y="1691640"/>
            <a:ext cx="1481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691640"/>
            <a:ext cx="1261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TRR determines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481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788920"/>
            <a:ext cx="1261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is photographed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listed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31136" y="2788920"/>
            <a:ext cx="1481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40864" y="2788920"/>
            <a:ext cx="1261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 item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13632" y="2788920"/>
            <a:ext cx="148132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2788920"/>
            <a:ext cx="1261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TRR handles transaction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fulfillment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29968" y="2080260"/>
            <a:ext cx="201168" cy="914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2080260"/>
            <a:ext cx="201168" cy="914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4296" y="2468880"/>
            <a:ext cx="914" cy="32004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3712464" y="3177540"/>
            <a:ext cx="201168" cy="914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2029968" y="3177540"/>
            <a:ext cx="201168" cy="914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9304" y="3566160"/>
            <a:ext cx="914" cy="338328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886200"/>
            <a:ext cx="2304288" cy="77724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886200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Consignor receives proceeds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TRR retains its share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86600" y="1691640"/>
            <a:ext cx="4556455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169164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42632" y="1856232"/>
            <a:ext cx="40992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TRR monetizes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42632" y="2221992"/>
            <a:ext cx="409925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TRR generally acts as an agent in core consignment transactions, retaining its share of the sale rather than recognizing the full selling price.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86600" y="3154680"/>
            <a:ext cx="4556455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315468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42632" y="3319272"/>
            <a:ext cx="40992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consignor buys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42632" y="3685032"/>
            <a:ext cx="409925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resale service: authentication, pricing, photography, listing, customer service, storage and fulfillment.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86600" y="4617720"/>
            <a:ext cx="4556455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61772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42632" y="4782312"/>
            <a:ext cx="40992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model matters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42632" y="5148072"/>
            <a:ext cx="409925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is not manufactured by TRR. The marketplace must continually attract desirable inventory while maintaining buyer demand.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Marketing analysis draft, Company &amp; Market Overview.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STRUCTURE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 resale changes the rules of retail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47208" cy="50292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5848" y="1508760"/>
            <a:ext cx="5547208" cy="502920"/>
          </a:xfrm>
          <a:prstGeom prst="rect">
            <a:avLst/>
          </a:prstGeom>
          <a:solidFill>
            <a:srgbClr val="9C7C46"/>
          </a:solidFill>
          <a:ln w="9525">
            <a:solidFill>
              <a:srgbClr val="9C7C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5547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LUXURY RETAIL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1508760"/>
            <a:ext cx="5547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RESALE / THE REALREAL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54720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5848" y="2011680"/>
            <a:ext cx="554720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11680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NEW PRODUCTS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2011680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PRE-OWNED PRODUCTS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09444"/>
            <a:ext cx="5547208" cy="397764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5848" y="2409444"/>
            <a:ext cx="5547208" cy="397764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409444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SUPPLIED BY THE LUXURY BRAND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33008" y="2409444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LARGELY SUPPLIED BY CONSIGNERS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07208"/>
            <a:ext cx="554720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5848" y="2807208"/>
            <a:ext cx="554720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807208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ESTABLISHES RETAIL PRICE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33008" y="2807208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RESPOND TO SECONDARY MARKET FACTORS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204972"/>
            <a:ext cx="5547208" cy="397764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3204972"/>
            <a:ext cx="5547208" cy="397764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204972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COLLECTIONS DOMINATE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204972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DISCONTINUED, RARE, &amp; VINTAGE COEXIST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02736"/>
            <a:ext cx="554720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5848" y="3602736"/>
            <a:ext cx="554720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602736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PROVIDES AUTHENTICITY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233008" y="3602736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PLATFORM MUST ESTABLISH AUTHORITY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000500"/>
            <a:ext cx="5547208" cy="397764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5848" y="4000500"/>
            <a:ext cx="5547208" cy="397764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000500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DETERMINED BY PRODUCTION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233008" y="4000500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DEPENDS ON WHAT ENTERS RESALE MARKET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398264"/>
            <a:ext cx="554720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95848" y="4398264"/>
            <a:ext cx="5547208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4398264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PURCHASES FROM BRAND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233008" y="4398264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CONNECTS CONSIGNORS AND BUYERS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796028"/>
            <a:ext cx="5547208" cy="397764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5848" y="4796028"/>
            <a:ext cx="5547208" cy="397764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4796028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CONSUMPTION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233008" y="4796028"/>
            <a:ext cx="527288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CIRCULAR BUY – OWN – RESELL CYCLE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3766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7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Implication:  </a:t>
            </a:r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TRR competes on market intelligence and trust—not product design or manufacturing.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CONSUMER TRENDS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forces are reshaping luxury resale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514600" cy="0"/>
          </a:xfrm>
          <a:prstGeom prst="line">
            <a:avLst/>
          </a:prstGeom>
          <a:noFill/>
          <a:ln w="28575">
            <a:solidFill>
              <a:srgbClr val="9C7C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476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0896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Americans shop secondhand online*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4023360"/>
            <a:ext cx="2112264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178808"/>
            <a:ext cx="2112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is becoming a normal shopping channel rather than a niche alternative.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691640"/>
            <a:ext cx="2514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691640"/>
            <a:ext cx="2514600" cy="0"/>
          </a:xfrm>
          <a:prstGeom prst="line">
            <a:avLst/>
          </a:prstGeom>
          <a:noFill/>
          <a:ln w="28575">
            <a:solidFill>
              <a:srgbClr val="9C7C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9476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286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+432%</a:t>
            </a:r>
            <a:endParaRPr lang="en-US" sz="33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10896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vintage demand, 2020–2026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4023360"/>
            <a:ext cx="2112264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4178808"/>
            <a:ext cx="2112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access and individuality expand the value proposition beyond discount.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9904" y="1691640"/>
            <a:ext cx="2514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1691640"/>
            <a:ext cx="2514600" cy="0"/>
          </a:xfrm>
          <a:prstGeom prst="line">
            <a:avLst/>
          </a:prstGeom>
          <a:noFill/>
          <a:ln w="28575">
            <a:solidFill>
              <a:srgbClr val="9C7C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1072" y="19476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286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+32%</a:t>
            </a:r>
            <a:endParaRPr lang="en-US" sz="330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310896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growth for “Fair Condition” items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91072" y="4023360"/>
            <a:ext cx="2112264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91072" y="4178808"/>
            <a:ext cx="2112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and age do not automatically eliminate desirability in resale.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60536" y="1691640"/>
            <a:ext cx="2514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0536" y="1691640"/>
            <a:ext cx="2514600" cy="0"/>
          </a:xfrm>
          <a:prstGeom prst="line">
            <a:avLst/>
          </a:prstGeom>
          <a:noFill/>
          <a:ln w="28575">
            <a:solidFill>
              <a:srgbClr val="9C7C4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61704" y="19476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GENERATIONAL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043416" y="2286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&gt;50%</a:t>
            </a:r>
            <a:endParaRPr lang="en-US" sz="3300" dirty="0"/>
          </a:p>
        </p:txBody>
      </p:sp>
      <p:sp>
        <p:nvSpPr>
          <p:cNvPr id="29" name="Text 27"/>
          <p:cNvSpPr txBox="1"/>
          <p:nvPr/>
        </p:nvSpPr>
        <p:spPr>
          <a:xfrm>
            <a:off x="9061704" y="3108960"/>
            <a:ext cx="21122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TRR customers are Gen Z + Millennials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61704" y="4023360"/>
            <a:ext cx="2112264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61704" y="4178808"/>
            <a:ext cx="21122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consumers are increasingly central to the marketplace.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RealReal 2025 &amp; 2026 Resale Reports. *Statistic cited by TRR from external research.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INDIVIDUALITY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Resale is becoming a searchable fashion archive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increasingly search by designer era—not just by brand.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+650%   </a:t>
            </a:r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“Phoebe Philo Celine”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063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+400%   </a:t>
            </a:r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“Nicolas Ghesquière Balenciaga”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92424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+375%   </a:t>
            </a:r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“Marc Jacobs Louis Vuitton”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151376"/>
            <a:ext cx="6583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151376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379976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opportunity: position TRR around discovery and fashion history, not only “luxury for less.”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2360" y="1481328"/>
            <a:ext cx="4190695" cy="1728216"/>
          </a:xfrm>
          <a:prstGeom prst="rect">
            <a:avLst/>
          </a:prstGeom>
          <a:solidFill>
            <a:srgbClr val="F7F5F1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08392" y="1737360"/>
            <a:ext cx="367863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current boutique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sells the present.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52360" y="3410712"/>
            <a:ext cx="4190695" cy="2185416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08392" y="3648456"/>
            <a:ext cx="3678631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resale marketplace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sell the present, the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discontinued, the rare—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archive.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RealReal 2026 Resale Report.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target market is an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88920" y="1572768"/>
            <a:ext cx="228600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88920" y="1572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REALREAL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28700" y="2395728"/>
            <a:ext cx="1965960" cy="438912"/>
          </a:xfrm>
          <a:prstGeom prst="rect">
            <a:avLst/>
          </a:prstGeom>
          <a:solidFill>
            <a:srgbClr val="F7F5F1"/>
          </a:solidFill>
          <a:ln w="15875">
            <a:solidFill>
              <a:srgbClr val="9C7C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69180" y="2395728"/>
            <a:ext cx="1965960" cy="438912"/>
          </a:xfrm>
          <a:prstGeom prst="rect">
            <a:avLst/>
          </a:prstGeom>
          <a:solidFill>
            <a:srgbClr val="F7F5F1"/>
          </a:solidFill>
          <a:ln w="15875">
            <a:solidFill>
              <a:srgbClr val="9C7C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8700" y="23957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869180" y="239572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31920" y="2029968"/>
            <a:ext cx="914" cy="22860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258568"/>
            <a:ext cx="3840480" cy="914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258568"/>
            <a:ext cx="914" cy="13716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258568"/>
            <a:ext cx="914" cy="13716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834640"/>
            <a:ext cx="914" cy="201168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035808"/>
            <a:ext cx="2633472" cy="914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" y="3035808"/>
            <a:ext cx="914" cy="27432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" y="3310128"/>
            <a:ext cx="11704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5448" y="3310128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0" y="3035808"/>
            <a:ext cx="914" cy="27432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26464" y="3310128"/>
            <a:ext cx="11704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72184" y="3310128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Trend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28416" y="3035808"/>
            <a:ext cx="914" cy="27432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3310128"/>
            <a:ext cx="11704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88920" y="3310128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 /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52160" y="2834640"/>
            <a:ext cx="914" cy="201168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3035808"/>
            <a:ext cx="2633472" cy="914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35424" y="3035808"/>
            <a:ext cx="914" cy="27432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50208" y="3310128"/>
            <a:ext cx="11704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95928" y="3310128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52160" y="3035808"/>
            <a:ext cx="914" cy="27432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3310128"/>
            <a:ext cx="11704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12664" y="3310128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Wardrobe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68896" y="3035808"/>
            <a:ext cx="914" cy="274320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3310128"/>
            <a:ext cx="11704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9400" y="3310128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17520" y="4434840"/>
            <a:ext cx="1828800" cy="438912"/>
          </a:xfrm>
          <a:prstGeom prst="rect">
            <a:avLst/>
          </a:prstGeom>
          <a:solidFill>
            <a:srgbClr val="F7F5F1"/>
          </a:solidFill>
          <a:ln w="15875">
            <a:solidFill>
              <a:srgbClr val="9C7C4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017520" y="44348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+ CONSIGN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28416" y="3968496"/>
            <a:ext cx="914" cy="265176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35424" y="3968496"/>
            <a:ext cx="914" cy="265176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28416" y="4233672"/>
            <a:ext cx="1207008" cy="914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31920" y="4233672"/>
            <a:ext cx="914" cy="201168"/>
          </a:xfrm>
          <a:prstGeom prst="line">
            <a:avLst/>
          </a:prstGeom>
          <a:noFill/>
          <a:ln w="15875">
            <a:solidFill>
              <a:srgbClr val="B8B2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14600" y="5193792"/>
            <a:ext cx="2834640" cy="50292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514600" y="519379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C9A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FLYWHEEL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931920" y="4873752"/>
            <a:ext cx="914" cy="320040"/>
          </a:xfrm>
          <a:prstGeom prst="line">
            <a:avLst/>
          </a:prstGeom>
          <a:noFill/>
          <a:ln w="19050">
            <a:solidFill>
              <a:srgbClr val="9C7C4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1572768"/>
            <a:ext cx="3733495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09560" y="1572768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147304" y="1719072"/>
            <a:ext cx="32762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motivations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8147304" y="2075688"/>
            <a:ext cx="327629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• vintage &amp; trend • collecting / value retention • circular fashion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7909560" y="3017520"/>
            <a:ext cx="3733495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9560" y="301752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47304" y="3163824"/>
            <a:ext cx="32762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Consignor motivations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8147304" y="3520440"/>
            <a:ext cx="327629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high-value selling • wardrobe reinvestment • convenient closet clean-out</a:t>
            </a:r>
            <a:endParaRPr lang="en-US" sz="1030" dirty="0"/>
          </a:p>
        </p:txBody>
      </p:sp>
      <p:sp>
        <p:nvSpPr>
          <p:cNvPr id="53" name="Shape 51"/>
          <p:cNvSpPr/>
          <p:nvPr/>
        </p:nvSpPr>
        <p:spPr>
          <a:xfrm>
            <a:off x="7909560" y="4462272"/>
            <a:ext cx="3733495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4462272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47304" y="4608576"/>
            <a:ext cx="32762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valuable behavior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8147304" y="4965192"/>
            <a:ext cx="327629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buy + consign contribute demand today and future supply tomorrow.</a:t>
            </a:r>
            <a:endParaRPr lang="en-US" sz="103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Marketing analysis draft; TRR 2025 Form 10-K. Analytical segments are project hypotheses, not official TRR customer labels.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spans two very different resale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600200"/>
            <a:ext cx="141732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9152" y="1600200"/>
            <a:ext cx="1271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FOCUS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03320" y="1600200"/>
            <a:ext cx="141732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76472" y="1600200"/>
            <a:ext cx="1271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EFFORT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1600200"/>
            <a:ext cx="141732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3792" y="1600200"/>
            <a:ext cx="1271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CONTROL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1600200"/>
            <a:ext cx="160020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1112" y="1600200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04895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11312" y="1600200"/>
            <a:ext cx="33585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MODEL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1737360" cy="484632"/>
          </a:xfrm>
          <a:prstGeom prst="rect">
            <a:avLst/>
          </a:prstGeom>
          <a:solidFill>
            <a:srgbClr val="F3ECD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057400"/>
            <a:ext cx="159105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0" y="2057400"/>
            <a:ext cx="1417320" cy="484632"/>
          </a:xfrm>
          <a:prstGeom prst="rect">
            <a:avLst/>
          </a:prstGeom>
          <a:solidFill>
            <a:srgbClr val="F3ECD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59152" y="2057400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03320" y="2057400"/>
            <a:ext cx="1417320" cy="484632"/>
          </a:xfrm>
          <a:prstGeom prst="rect">
            <a:avLst/>
          </a:prstGeom>
          <a:solidFill>
            <a:srgbClr val="F3ECD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76472" y="2057400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2057400"/>
            <a:ext cx="1417320" cy="484632"/>
          </a:xfrm>
          <a:prstGeom prst="rect">
            <a:avLst/>
          </a:prstGeom>
          <a:solidFill>
            <a:srgbClr val="F3ECD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3792" y="2057400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2057400"/>
            <a:ext cx="1600200" cy="484632"/>
          </a:xfrm>
          <a:prstGeom prst="rect">
            <a:avLst/>
          </a:prstGeom>
          <a:solidFill>
            <a:srgbClr val="F3ECD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11112" y="2057400"/>
            <a:ext cx="145389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2057400"/>
            <a:ext cx="3504895" cy="484632"/>
          </a:xfrm>
          <a:prstGeom prst="rect">
            <a:avLst/>
          </a:prstGeom>
          <a:solidFill>
            <a:srgbClr val="F3ECD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11312" y="2057400"/>
            <a:ext cx="3358591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/ full service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2542032"/>
            <a:ext cx="173736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2542032"/>
            <a:ext cx="159105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Vestiaire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2542032"/>
            <a:ext cx="141732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359152" y="2542032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03320" y="2542032"/>
            <a:ext cx="141732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76472" y="2542032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20640" y="2542032"/>
            <a:ext cx="141732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93792" y="2542032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37960" y="2542032"/>
            <a:ext cx="160020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11112" y="2542032"/>
            <a:ext cx="145389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38160" y="2542032"/>
            <a:ext cx="3504895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11312" y="2542032"/>
            <a:ext cx="3358591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3026664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" y="3026664"/>
            <a:ext cx="159105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Fashionphile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0" y="3026664"/>
            <a:ext cx="14173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359152" y="3026664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703320" y="3026664"/>
            <a:ext cx="14173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776472" y="3026664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120640" y="3026664"/>
            <a:ext cx="14173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93792" y="3026664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37960" y="3026664"/>
            <a:ext cx="16002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11112" y="3026664"/>
            <a:ext cx="145389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38160" y="3026664"/>
            <a:ext cx="3504895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11312" y="3026664"/>
            <a:ext cx="3358591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offer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3511296"/>
            <a:ext cx="173736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1792" y="3511296"/>
            <a:ext cx="159105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Rebag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0" y="3511296"/>
            <a:ext cx="141732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359152" y="3511296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703320" y="3511296"/>
            <a:ext cx="141732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776472" y="3511296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120640" y="3511296"/>
            <a:ext cx="141732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193792" y="3511296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537960" y="3511296"/>
            <a:ext cx="160020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611112" y="3511296"/>
            <a:ext cx="145389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138160" y="3511296"/>
            <a:ext cx="3504895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11312" y="3511296"/>
            <a:ext cx="3358591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+ resale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48640" y="3995928"/>
            <a:ext cx="1737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21792" y="3995928"/>
            <a:ext cx="159105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286000" y="3995928"/>
            <a:ext cx="14173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359152" y="3995928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703320" y="3995928"/>
            <a:ext cx="14173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776472" y="3995928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120640" y="3995928"/>
            <a:ext cx="14173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193792" y="3995928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537960" y="3995928"/>
            <a:ext cx="16002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611112" y="3995928"/>
            <a:ext cx="145389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items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8138160" y="3995928"/>
            <a:ext cx="3504895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211312" y="3995928"/>
            <a:ext cx="3358591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48640" y="4480560"/>
            <a:ext cx="173736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21792" y="4480560"/>
            <a:ext cx="159105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Poshmark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286000" y="4480560"/>
            <a:ext cx="141732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359152" y="4480560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703320" y="4480560"/>
            <a:ext cx="141732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776472" y="4480560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5120640" y="4480560"/>
            <a:ext cx="141732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193792" y="4480560"/>
            <a:ext cx="127101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537960" y="4480560"/>
            <a:ext cx="1600200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611112" y="4480560"/>
            <a:ext cx="145389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luxury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8138160" y="4480560"/>
            <a:ext cx="3504895" cy="484632"/>
          </a:xfrm>
          <a:prstGeom prst="rect">
            <a:avLst/>
          </a:prstGeom>
          <a:solidFill>
            <a:srgbClr val="F7F5F1"/>
          </a:solidFill>
          <a:ln w="6350">
            <a:solidFill>
              <a:srgbClr val="D8D3C9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211312" y="4480560"/>
            <a:ext cx="3358591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88" name="Text 86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competitor pages cited in the marketing analysis draft. Classifications are analytical comparisons, not company ratings.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RealReal occupies a distinctive middle ground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691640"/>
            <a:ext cx="6675120" cy="3794760"/>
          </a:xfrm>
          <a:prstGeom prst="rect">
            <a:avLst/>
          </a:prstGeom>
          <a:solidFill>
            <a:srgbClr val="FAF9F6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3589020"/>
            <a:ext cx="6675120" cy="914"/>
          </a:xfrm>
          <a:prstGeom prst="line">
            <a:avLst/>
          </a:prstGeom>
          <a:noFill/>
          <a:ln w="12700">
            <a:solidFill>
              <a:srgbClr val="C9C3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1691640"/>
            <a:ext cx="914" cy="3794760"/>
          </a:xfrm>
          <a:prstGeom prst="line">
            <a:avLst/>
          </a:prstGeom>
          <a:noFill/>
          <a:ln w="12700">
            <a:solidFill>
              <a:srgbClr val="C9C3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39903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SPECIALIZED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553212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RESALE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2689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b="1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FULL-SERVICE</a:t>
            </a:r>
            <a:endParaRPr lang="en-US" sz="95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50" b="1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509760" y="32689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9938" y="2368296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06394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Fashionphile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99478" y="2444191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75934" y="2636215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85232" y="3309214"/>
            <a:ext cx="256032" cy="256032"/>
          </a:xfrm>
          <a:prstGeom prst="ellipse">
            <a:avLst/>
          </a:prstGeom>
          <a:solidFill>
            <a:srgbClr val="9C7C46"/>
          </a:solidFill>
          <a:ln w="12700">
            <a:solidFill>
              <a:srgbClr val="9C7C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7408" y="359267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7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REALREAL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66990" y="3962095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43446" y="4154119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Vestiaire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29430" y="4721047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5886" y="4913071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Poshmark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65976" y="4872838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42432" y="506486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TRR combines luxury specialization with a low-effort, full-service seller experience—while maintaining broader assortment than accessory-focused specialists.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MIX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marketing mix is built around the marketplace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1004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65376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76272"/>
            <a:ext cx="48614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 item + authentication + curation + discovery + convenience + trust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44368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TRR adds services and confidence around products it did not manufacture.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3008" y="1645920"/>
            <a:ext cx="541004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008" y="164592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1865376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2176272"/>
            <a:ext cx="48614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Dynamic, data-informed resale pricing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944368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balances buyer value, consignor return and speed-to-sale.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1004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9476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14216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325112"/>
            <a:ext cx="48614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marketplace + physical retail + consignment touchpoints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93208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serve both shopping and inventory acquisition.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3008" y="3794760"/>
            <a:ext cx="541004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3008" y="379476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7328" y="4014216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07328" y="4325112"/>
            <a:ext cx="48614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generation + supply acquisition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07328" y="5093208"/>
            <a:ext cx="486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TRR must market buying and consigning at the same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is where marketing and data science meet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170+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evaluated when pricing an item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TRR combines historical + real-time data, proprietary models and human expertise, with pricing designed around marketplace demand and speed-to-sale.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92040" y="1691640"/>
            <a:ext cx="328406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691640"/>
            <a:ext cx="3009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358988" y="1691640"/>
            <a:ext cx="328406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96148" y="1691640"/>
            <a:ext cx="3009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92040" y="2340864"/>
            <a:ext cx="328406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2340864"/>
            <a:ext cx="3009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58988" y="2340864"/>
            <a:ext cx="328406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96148" y="2340864"/>
            <a:ext cx="3009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year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2990088"/>
            <a:ext cx="328406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2990088"/>
            <a:ext cx="3009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58988" y="2990088"/>
            <a:ext cx="328406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96148" y="2990088"/>
            <a:ext cx="3009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92040" y="3639312"/>
            <a:ext cx="328406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3639312"/>
            <a:ext cx="3009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behavior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58988" y="3639312"/>
            <a:ext cx="328406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96148" y="3639312"/>
            <a:ext cx="30097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items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4379976"/>
            <a:ext cx="6751015" cy="77724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0" y="4379976"/>
            <a:ext cx="62938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A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bridge  →  What observable product attributes explain resale price?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RealReal Pricing; 2025 Form 10-K.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POSITIONING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proposition reduces uncertainty on both sides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10048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699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7699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I trust this $3,000 bag?”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7699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transparency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Cross-brand discovery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Secondary-market value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fulfillment &amp; service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3008" y="1645920"/>
            <a:ext cx="5410048" cy="352044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920240"/>
            <a:ext cx="47699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A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CONSIGNOR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240280"/>
            <a:ext cx="47699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my item be valued and sold well?”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383280"/>
            <a:ext cx="47699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expertise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reach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credibility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Low-effort selling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+ fulfillment support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675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TRR’s brand promise: make luxury resale feel trustworthy, convenient and consistent with luxury expectations.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C9A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EQUITY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not just messaging—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marketplace infrastructure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C9A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information asymmetry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buyer trust, demand weakens. Without consignor trust, desirable supply can move elsewhere.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2331720"/>
            <a:ext cx="4922215" cy="621792"/>
          </a:xfrm>
          <a:prstGeom prst="rect">
            <a:avLst/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233172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9A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2331720"/>
            <a:ext cx="26819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3099816"/>
            <a:ext cx="4922215" cy="621792"/>
          </a:xfrm>
          <a:prstGeom prst="rect">
            <a:avLst/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30998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9A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3099816"/>
            <a:ext cx="26819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worth?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3867912"/>
            <a:ext cx="4922215" cy="621792"/>
          </a:xfrm>
          <a:prstGeom prst="rect">
            <a:avLst/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386791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9A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3867912"/>
            <a:ext cx="26819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condition accurate?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0840" y="4636008"/>
            <a:ext cx="4922215" cy="621792"/>
          </a:xfrm>
          <a:prstGeom prst="rect">
            <a:avLst/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463600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9A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4636008"/>
            <a:ext cx="26819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transaction work?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A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insight: TRR monetizes reduced uncertainty.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RealReal 2025 Form 10-K; marketing analysis draft.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DIAGNOSIS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SWOT: strengths and risks are tightly linked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0048" cy="20848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86140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luxury expertise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consignment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 item sales / proprietary data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one-of-a-kind assortment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3008" y="1600200"/>
            <a:ext cx="5410048" cy="20848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3008" y="1600200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1783080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2148840"/>
            <a:ext cx="486140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on consignor supply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seller control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Labor-intensive operations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highly dependent on trust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5410048" cy="20848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59352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42232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07992"/>
            <a:ext cx="486140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normalization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+ Millennial participation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/ archive demand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personalization + buyer→consignor conversion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3008" y="3959352"/>
            <a:ext cx="5410048" cy="20848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3008" y="3959352"/>
            <a:ext cx="274320" cy="0"/>
          </a:xfrm>
          <a:prstGeom prst="line">
            <a:avLst/>
          </a:prstGeom>
          <a:noFill/>
          <a:ln w="25400">
            <a:solidFill>
              <a:srgbClr val="9C7C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07328" y="4142232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4507992"/>
            <a:ext cx="486140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/ authentication failures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+ peer-to-peer competition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sensitivity</a:t>
            </a:r>
            <a:endParaRPr lang="en-US" sz="11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for high-quality supply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RECOMMENDATIONS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opportunities rise above the 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1027145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4208" y="2011680"/>
            <a:ext cx="970452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data into value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432304"/>
            <a:ext cx="96130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resale intelligence more visible: historical ranges, value retention and demand signals where data quality supports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200400"/>
            <a:ext cx="1027145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64208" y="3383280"/>
            <a:ext cx="970452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fashion discovery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803904"/>
            <a:ext cx="96130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archive, designer-era and vintage discovery—not simply discounted luxury.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566928" cy="56692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4572000"/>
            <a:ext cx="1027145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64208" y="4754880"/>
            <a:ext cx="970452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flywheel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5175504"/>
            <a:ext cx="96130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demand signals and personalized outreach to acquire desirable supply and convert more buyers into consignors.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recommendation can be tested or informed by quantitative analysis.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STRATEGY TO ANALYTICS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marketing analysis leads to a measurable question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DETERMINES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RESALE VALUE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LUXURY FASHION?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MODELING QUESTION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can brand, category, condition, material, age and other observable characteristics predict resale price?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501365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1856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94215" y="18196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221992"/>
            <a:ext cx="4556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marketplace look like?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29400" y="3044952"/>
            <a:ext cx="501365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3209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94215" y="3172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+ stats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3575304"/>
            <a:ext cx="4556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prices differ?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29400" y="4398264"/>
            <a:ext cx="5013655" cy="1170432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4562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494215" y="4526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4928616"/>
            <a:ext cx="4556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observable attributes predict resale price?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pPr indent="0" marL="0">
              <a:buNone/>
            </a:pPr>
            <a:r>
              <a:rPr lang="en-US" sz="11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2834640"/>
            <a:ext cx="9357055" cy="914"/>
          </a:xfrm>
          <a:prstGeom prst="line">
            <a:avLst/>
          </a:prstGeom>
          <a:noFill/>
          <a:ln w="15875">
            <a:solidFill>
              <a:srgbClr val="D8D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514600"/>
            <a:ext cx="640080" cy="64008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92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58184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market, customer, positioning and strategic questions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68691" y="2514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7C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68691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420051" y="3392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420051" y="3758184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brands, products, listings and price history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0102" y="2514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7C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0102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91462" y="3392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291462" y="3758184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price, condition, category and brand patterns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11513" y="2514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7C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11513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162873" y="3392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62873" y="3758184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resale price and interpret key drivers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82924" y="2514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7C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82924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034284" y="3392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034284" y="3758184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an interactive business 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454335" y="2514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7C4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54335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905695" y="33924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905695" y="3758184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pricing, merchandising and supply acquisition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92928" y="5056632"/>
            <a:ext cx="1005840" cy="0"/>
          </a:xfrm>
          <a:prstGeom prst="line">
            <a:avLst/>
          </a:prstGeom>
          <a:noFill/>
          <a:ln w="15875">
            <a:solidFill>
              <a:srgbClr val="9C7C4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marketing analysis is the hypothesis-building stage—not the endpoint.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sources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64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6432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 — About Us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 — Authentication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 — Pricing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 — Consignor Terms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 — 2025 Resale Report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 — 2026 Resale Report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RealReal, Inc. — 2025 Form 10-K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RealReal — Investor Overview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78728" y="1645920"/>
            <a:ext cx="5364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7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2011680"/>
            <a:ext cx="536432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Vestiaire Collective — About / Authentication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Fashionphile — Sell With Us / Authenticity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Rebag — Sell Now / Offer Values / Authenticity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— Authenticity Guarantee: Handbags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Poshmark — Posh Authenticate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URLs and retrieval dates are preserved in the original marketing analysis document.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6419088"/>
            <a:ext cx="11094415" cy="0"/>
          </a:xfrm>
          <a:prstGeom prst="line">
            <a:avLst/>
          </a:prstGeom>
          <a:noFill/>
          <a:ln w="9525">
            <a:solidFill>
              <a:srgbClr val="D8D3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F8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REALREAL   •   LUXURY RESALE INTELLIGENCE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2026-09-20T00:40:32Z</dcterms:created>
  <dcterms:modified xsi:type="dcterms:W3CDTF">2026-09-20T00:40:32Z</dcterms:modified>
</cp:coreProperties>
</file>